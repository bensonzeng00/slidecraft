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案例03，用户明确要求互联网大厂风格，未指向具体公司的模板。内容基于用户给出的虚构示例：12位调研用户、3个核心场景、首批100位灰度测试用户、支付联调延期2天。已完成设计与交互验证。下周修复支付异常并收集反馈。字体、数字、状态、面板和连接线是原生对象。背景山路和5组插画是独立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91400" y="180975"/>
            <a:ext cx="7353300" cy="367665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EDECB34-DC6F-4725-82BC-0FF79A05D649}"/>
              </a:ext>
            </a:extLst>
          </p:cNvPr>
          <p:cNvSpPr>
            <a:spLocks noGrp="1"/>
          </p:cNvSpPr>
          <p:nvPr/>
        </p:nvSpPr>
        <p:spPr>
          <a:xfrm>
            <a:off x="466725" y="714375"/>
            <a:ext cx="70866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540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新品上线项目进展</a:t>
            </a:r>
          </a:p>
        </p:txBody>
      </p:sp>
      <p:sp>
        <p:nvSpPr>
          <p:cNvPr id="3" name="context">
            <a:extLst>
              <a:ext uri="{FF2B5EF4-FFF2-40B4-BE49-F238E27FC236}">
                <a16:creationId xmlns:a16="http://schemas.microsoft.com/office/drawing/2014/main" id="{C461CB44-945E-4464-84E6-2BE18BB68D58}"/>
              </a:ext>
            </a:extLst>
          </p:cNvPr>
          <p:cNvSpPr>
            <a:spLocks noGrp="1"/>
          </p:cNvSpPr>
          <p:nvPr/>
        </p:nvSpPr>
        <p:spPr>
          <a:xfrm>
            <a:off x="504825" y="1876425"/>
            <a:ext cx="647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687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87A98"/>
                </a:solidFill>
                <a:latin typeface="Microsoft YaHei"/>
                <a:ea typeface="Microsoft YaHei"/>
                <a:cs typeface="Microsoft YaHei"/>
              </a:rPr>
              <a:t>项目工作汇报</a:t>
            </a:r>
          </a:p>
        </p:txBody>
      </p:sp>
      <p:sp>
        <p:nvSpPr>
          <p:cNvPr id="4" name="summary">
            <a:extLst>
              <a:ext uri="{FF2B5EF4-FFF2-40B4-BE49-F238E27FC236}">
                <a16:creationId xmlns:a16="http://schemas.microsoft.com/office/drawing/2014/main" id="{B096B953-FBE9-4EB6-AB45-1A5331D2F628}"/>
              </a:ext>
            </a:extLst>
          </p:cNvPr>
          <p:cNvSpPr>
            <a:spLocks noGrp="1"/>
          </p:cNvSpPr>
          <p:nvPr/>
        </p:nvSpPr>
        <p:spPr>
          <a:xfrm>
            <a:off x="371475" y="2628900"/>
            <a:ext cx="6905625" cy="1238250"/>
          </a:xfrm>
          <a:prstGeom prst="roundRect">
            <a:avLst>
              <a:gd name="adj" fmla="val 6154"/>
            </a:avLst>
          </a:prstGeom>
          <a:gradFill>
            <a:gsLst>
              <a:gs pos="0">
                <a:srgbClr val="1263F0"/>
              </a:gs>
              <a:gs pos="100000">
                <a:srgbClr val="3196FA"/>
              </a:gs>
            </a:gsLst>
            <a:lin ang="0"/>
          </a:gradFill>
          <a:ln w="0">
            <a:noFill/>
          </a:ln>
        </p:spPr>
      </p:sp>
      <p:sp>
        <p:nvSpPr>
          <p:cNvPr id="5" name="summary-label">
            <a:extLst>
              <a:ext uri="{FF2B5EF4-FFF2-40B4-BE49-F238E27FC236}">
                <a16:creationId xmlns:a16="http://schemas.microsoft.com/office/drawing/2014/main" id="{E8190192-BA63-4413-8499-2C98F8F66E0E}"/>
              </a:ext>
            </a:extLst>
          </p:cNvPr>
          <p:cNvSpPr>
            <a:spLocks noGrp="1"/>
          </p:cNvSpPr>
          <p:nvPr/>
        </p:nvSpPr>
        <p:spPr>
          <a:xfrm>
            <a:off x="619125" y="2743200"/>
            <a:ext cx="657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6" name="summary-text">
            <a:extLst>
              <a:ext uri="{FF2B5EF4-FFF2-40B4-BE49-F238E27FC236}">
                <a16:creationId xmlns:a16="http://schemas.microsoft.com/office/drawing/2014/main" id="{1819D07B-AD7C-4187-B53B-35415D2346D4}"/>
              </a:ext>
            </a:extLst>
          </p:cNvPr>
          <p:cNvSpPr>
            <a:spLocks noGrp="1"/>
          </p:cNvSpPr>
          <p:nvPr/>
        </p:nvSpPr>
        <p:spPr>
          <a:xfrm>
            <a:off x="619125" y="3190875"/>
            <a:ext cx="66198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已进入灰度测试，支付稳定性仍需跟进</a:t>
            </a:r>
          </a:p>
        </p:txBody>
      </p:sp>
      <p:sp>
        <p:nvSpPr>
          <p:cNvPr id="7" name="road-research">
            <a:extLst>
              <a:ext uri="{FF2B5EF4-FFF2-40B4-BE49-F238E27FC236}">
                <a16:creationId xmlns:a16="http://schemas.microsoft.com/office/drawing/2014/main" id="{06E9BB2A-7FE2-46F0-B977-BC30FDEA7E10}"/>
              </a:ext>
            </a:extLst>
          </p:cNvPr>
          <p:cNvSpPr>
            <a:spLocks noGrp="1"/>
          </p:cNvSpPr>
          <p:nvPr/>
        </p:nvSpPr>
        <p:spPr>
          <a:xfrm>
            <a:off x="7515225" y="2790825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调研（已完成）</a:t>
            </a:r>
          </a:p>
        </p:txBody>
      </p:sp>
      <p:sp>
        <p:nvSpPr>
          <p:cNvPr id="8" name="node-research">
            <a:extLst>
              <a:ext uri="{FF2B5EF4-FFF2-40B4-BE49-F238E27FC236}">
                <a16:creationId xmlns:a16="http://schemas.microsoft.com/office/drawing/2014/main" id="{81E7D573-4BF4-45AC-B51F-888FA1CF8D3D}"/>
              </a:ext>
            </a:extLst>
          </p:cNvPr>
          <p:cNvSpPr>
            <a:spLocks noGrp="1"/>
          </p:cNvSpPr>
          <p:nvPr/>
        </p:nvSpPr>
        <p:spPr>
          <a:xfrm>
            <a:off x="7858125" y="3248025"/>
            <a:ext cx="361950" cy="361950"/>
          </a:xfrm>
          <a:prstGeom prst="ellipse">
            <a:avLst/>
          </a:prstGeom>
          <a:solidFill>
            <a:srgbClr val="0DAB83"/>
          </a:solidFill>
          <a:ln w="9525">
            <a:solidFill>
              <a:srgbClr val="FFFFF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road-design">
            <a:extLst>
              <a:ext uri="{FF2B5EF4-FFF2-40B4-BE49-F238E27FC236}">
                <a16:creationId xmlns:a16="http://schemas.microsoft.com/office/drawing/2014/main" id="{9CB88605-429C-447D-95B7-366D5724EBC5}"/>
              </a:ext>
            </a:extLst>
          </p:cNvPr>
          <p:cNvSpPr>
            <a:spLocks noGrp="1"/>
          </p:cNvSpPr>
          <p:nvPr/>
        </p:nvSpPr>
        <p:spPr>
          <a:xfrm>
            <a:off x="8915400" y="2476500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设计（已完成）</a:t>
            </a:r>
          </a:p>
        </p:txBody>
      </p:sp>
      <p:sp>
        <p:nvSpPr>
          <p:cNvPr id="10" name="node-design">
            <a:extLst>
              <a:ext uri="{FF2B5EF4-FFF2-40B4-BE49-F238E27FC236}">
                <a16:creationId xmlns:a16="http://schemas.microsoft.com/office/drawing/2014/main" id="{5D203DD6-E5B9-4A26-B0D8-65922D4A94CC}"/>
              </a:ext>
            </a:extLst>
          </p:cNvPr>
          <p:cNvSpPr>
            <a:spLocks noGrp="1"/>
          </p:cNvSpPr>
          <p:nvPr/>
        </p:nvSpPr>
        <p:spPr>
          <a:xfrm>
            <a:off x="9525000" y="2857500"/>
            <a:ext cx="361950" cy="361950"/>
          </a:xfrm>
          <a:prstGeom prst="ellipse">
            <a:avLst/>
          </a:prstGeom>
          <a:solidFill>
            <a:srgbClr val="0DAB83"/>
          </a:solidFill>
          <a:ln w="9525">
            <a:solidFill>
              <a:srgbClr val="FFFFF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" name="road-pilot">
            <a:extLst>
              <a:ext uri="{FF2B5EF4-FFF2-40B4-BE49-F238E27FC236}">
                <a16:creationId xmlns:a16="http://schemas.microsoft.com/office/drawing/2014/main" id="{97434104-3512-42B6-9210-04FB52D75F5B}"/>
              </a:ext>
            </a:extLst>
          </p:cNvPr>
          <p:cNvSpPr>
            <a:spLocks noGrp="1"/>
          </p:cNvSpPr>
          <p:nvPr/>
        </p:nvSpPr>
        <p:spPr>
          <a:xfrm>
            <a:off x="10477500" y="19431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灰度测试（进行中）</a:t>
            </a:r>
          </a:p>
        </p:txBody>
      </p:sp>
      <p:sp>
        <p:nvSpPr>
          <p:cNvPr id="12" name="node-pilot">
            <a:extLst>
              <a:ext uri="{FF2B5EF4-FFF2-40B4-BE49-F238E27FC236}">
                <a16:creationId xmlns:a16="http://schemas.microsoft.com/office/drawing/2014/main" id="{32940ABD-4D29-489E-B08D-A7D71693A0AC}"/>
              </a:ext>
            </a:extLst>
          </p:cNvPr>
          <p:cNvSpPr>
            <a:spLocks noGrp="1"/>
          </p:cNvSpPr>
          <p:nvPr/>
        </p:nvSpPr>
        <p:spPr>
          <a:xfrm>
            <a:off x="11430000" y="2371725"/>
            <a:ext cx="361950" cy="36195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1267EF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73" name="直接箭头连接符 72"/>
          <p:cNvCxnSpPr>
            <a:stCxn id="8" idx="6"/>
            <a:endCxn id="10" idx="2"/>
          </p:cNvCxnSpPr>
          <p:nvPr/>
        </p:nvCxnSpPr>
        <p:spPr>
          <a:xfrm flipV="1">
            <a:off x="8220075" y="3038475"/>
            <a:ext cx="1304925" cy="390525"/>
          </a:xfrm>
          <a:prstGeom prst="straightConnector1">
            <a:avLst/>
          </a:prstGeom>
          <a:ln w="19050">
            <a:solidFill>
              <a:srgbClr val="6C94CA"/>
            </a:solidFill>
            <a:tailEnd type="triangle" w="med" len="med"/>
          </a:ln>
        </p:spPr>
      </p:cxnSp>
      <p:cxnSp>
        <p:nvCxnSpPr>
          <p:cNvPr id="74" name="直接箭头连接符 73"/>
          <p:cNvCxnSpPr>
            <a:stCxn id="10" idx="6"/>
            <a:endCxn id="12" idx="2"/>
          </p:cNvCxnSpPr>
          <p:nvPr/>
        </p:nvCxnSpPr>
        <p:spPr>
          <a:xfrm flipV="1">
            <a:off x="9886950" y="2552700"/>
            <a:ext cx="1543050" cy="485775"/>
          </a:xfrm>
          <a:prstGeom prst="straightConnector1">
            <a:avLst/>
          </a:prstGeom>
          <a:ln w="19050">
            <a:solidFill>
              <a:srgbClr val="6C94CA"/>
            </a:solidFill>
            <a:tailEnd type="triangle" w="med" len="med"/>
          </a:ln>
        </p:spPr>
      </p:cxnSp>
      <p:sp>
        <p:nvSpPr>
          <p:cNvPr id="15" name="card-research">
            <a:extLst>
              <a:ext uri="{FF2B5EF4-FFF2-40B4-BE49-F238E27FC236}">
                <a16:creationId xmlns:a16="http://schemas.microsoft.com/office/drawing/2014/main" id="{4B962C25-3533-4AB4-B792-A811579614D7}"/>
              </a:ext>
            </a:extLst>
          </p:cNvPr>
          <p:cNvSpPr>
            <a:spLocks noGrp="1"/>
          </p:cNvSpPr>
          <p:nvPr/>
        </p:nvSpPr>
        <p:spPr>
          <a:xfrm>
            <a:off x="361950" y="4105275"/>
            <a:ext cx="2714625" cy="3810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CFAF7"/>
            </a:solidFill>
          </a:ln>
        </p:spPr>
      </p:sp>
      <p:sp>
        <p:nvSpPr>
          <p:cNvPr id="16" name="card-head-research">
            <a:extLst>
              <a:ext uri="{FF2B5EF4-FFF2-40B4-BE49-F238E27FC236}">
                <a16:creationId xmlns:a16="http://schemas.microsoft.com/office/drawing/2014/main" id="{138E0D79-2677-4B72-BCBD-119BDD5C478F}"/>
              </a:ext>
            </a:extLst>
          </p:cNvPr>
          <p:cNvSpPr>
            <a:spLocks noGrp="1"/>
          </p:cNvSpPr>
          <p:nvPr/>
        </p:nvSpPr>
        <p:spPr>
          <a:xfrm>
            <a:off x="371475" y="4114800"/>
            <a:ext cx="2695575" cy="619125"/>
          </a:xfrm>
          <a:prstGeom prst="roundRect">
            <a:avLst>
              <a:gd name="adj" fmla="val 12308"/>
            </a:avLst>
          </a:prstGeom>
          <a:solidFill>
            <a:srgbClr val="ECFAF7"/>
          </a:solidFill>
          <a:ln w="0">
            <a:noFill/>
          </a:ln>
        </p:spPr>
      </p:sp>
      <p:sp>
        <p:nvSpPr>
          <p:cNvPr id="17" name="heading-research">
            <a:extLst>
              <a:ext uri="{FF2B5EF4-FFF2-40B4-BE49-F238E27FC236}">
                <a16:creationId xmlns:a16="http://schemas.microsoft.com/office/drawing/2014/main" id="{35E7BC45-25D6-473C-8712-25D35EEECA15}"/>
              </a:ext>
            </a:extLst>
          </p:cNvPr>
          <p:cNvSpPr>
            <a:spLocks noGrp="1"/>
          </p:cNvSpPr>
          <p:nvPr/>
        </p:nvSpPr>
        <p:spPr>
          <a:xfrm>
            <a:off x="542925" y="4219575"/>
            <a:ext cx="14954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用户调研</a:t>
            </a:r>
          </a:p>
        </p:txBody>
      </p:sp>
      <p:sp>
        <p:nvSpPr>
          <p:cNvPr id="18" name="status-research">
            <a:extLst>
              <a:ext uri="{FF2B5EF4-FFF2-40B4-BE49-F238E27FC236}">
                <a16:creationId xmlns:a16="http://schemas.microsoft.com/office/drawing/2014/main" id="{C50C2D82-4C2E-44A7-A1F9-46FED3C4EAF6}"/>
              </a:ext>
            </a:extLst>
          </p:cNvPr>
          <p:cNvSpPr>
            <a:spLocks noGrp="1"/>
          </p:cNvSpPr>
          <p:nvPr/>
        </p:nvSpPr>
        <p:spPr>
          <a:xfrm>
            <a:off x="2209800" y="4286250"/>
            <a:ext cx="714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425" b="1">
                <a:solidFill>
                  <a:srgbClr val="009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9B8C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pic>
        <p:nvPicPr>
          <p:cNvPr id="79" name="case03-art-0" descr="case03-art-0"/>
          <p:cNvPicPr>
            <a:picLocks/>
          </p:cNvPicPr>
          <p:nvPr/>
        </p:nvPicPr>
        <p:blipFill>
          <a:blip r:embed="rId4"/>
          <a:srcRect l="2000" t="32000" r="77500" b="32000"/>
          <a:stretch/>
        </p:blipFill>
        <p:spPr>
          <a:xfrm>
            <a:off x="581025" y="4877265"/>
            <a:ext cx="2276475" cy="1332570"/>
          </a:xfrm>
          <a:prstGeom prst="rect">
            <a:avLst/>
          </a:prstGeom>
        </p:spPr>
      </p:pic>
      <p:sp>
        <p:nvSpPr>
          <p:cNvPr id="20" name="body-research-0">
            <a:extLst>
              <a:ext uri="{FF2B5EF4-FFF2-40B4-BE49-F238E27FC236}">
                <a16:creationId xmlns:a16="http://schemas.microsoft.com/office/drawing/2014/main" id="{EC381850-0D89-4899-AC0C-C0CBBC58C5DF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2371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访谈 12 位用户</a:t>
            </a:r>
          </a:p>
        </p:txBody>
      </p:sp>
      <p:sp>
        <p:nvSpPr>
          <p:cNvPr id="21" name="body-research-1">
            <a:extLst>
              <a:ext uri="{FF2B5EF4-FFF2-40B4-BE49-F238E27FC236}">
                <a16:creationId xmlns:a16="http://schemas.microsoft.com/office/drawing/2014/main" id="{275B5546-8070-4D59-8AF8-DE806A20058F}"/>
              </a:ext>
            </a:extLst>
          </p:cNvPr>
          <p:cNvSpPr>
            <a:spLocks noGrp="1"/>
          </p:cNvSpPr>
          <p:nvPr/>
        </p:nvSpPr>
        <p:spPr>
          <a:xfrm>
            <a:off x="552450" y="6686550"/>
            <a:ext cx="2371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确定 3 个核心场景</a:t>
            </a:r>
          </a:p>
        </p:txBody>
      </p:sp>
      <p:sp>
        <p:nvSpPr>
          <p:cNvPr id="22" name="rule-research">
            <a:extLst>
              <a:ext uri="{FF2B5EF4-FFF2-40B4-BE49-F238E27FC236}">
                <a16:creationId xmlns:a16="http://schemas.microsoft.com/office/drawing/2014/main" id="{BBEB8D0D-4EFB-4ACC-8FC4-2D3736FED37B}"/>
              </a:ext>
            </a:extLst>
          </p:cNvPr>
          <p:cNvSpPr>
            <a:spLocks noGrp="1"/>
          </p:cNvSpPr>
          <p:nvPr/>
        </p:nvSpPr>
        <p:spPr>
          <a:xfrm>
            <a:off x="561975" y="7219950"/>
            <a:ext cx="2314575" cy="9525"/>
          </a:xfrm>
          <a:prstGeom prst="rect">
            <a:avLst/>
          </a:prstGeom>
          <a:solidFill>
            <a:srgbClr val="ECFAF7"/>
          </a:solidFill>
          <a:ln w="0">
            <a:noFill/>
          </a:ln>
        </p:spPr>
      </p:sp>
      <p:sp>
        <p:nvSpPr>
          <p:cNvPr id="23" name="note-research">
            <a:extLst>
              <a:ext uri="{FF2B5EF4-FFF2-40B4-BE49-F238E27FC236}">
                <a16:creationId xmlns:a16="http://schemas.microsoft.com/office/drawing/2014/main" id="{553CC991-A01A-48D3-B2E9-1E4D9CFA87C3}"/>
              </a:ext>
            </a:extLst>
          </p:cNvPr>
          <p:cNvSpPr>
            <a:spLocks noGrp="1"/>
          </p:cNvSpPr>
          <p:nvPr/>
        </p:nvSpPr>
        <p:spPr>
          <a:xfrm>
            <a:off x="561975" y="7381875"/>
            <a:ext cx="23431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7786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7869E"/>
                </a:solidFill>
                <a:latin typeface="Microsoft YaHei"/>
                <a:ea typeface="Microsoft YaHei"/>
                <a:cs typeface="Microsoft YaHei"/>
              </a:rPr>
              <a:t>已完成用户调研</a:t>
            </a:r>
          </a:p>
        </p:txBody>
      </p:sp>
      <p:sp>
        <p:nvSpPr>
          <p:cNvPr id="24" name="card-design">
            <a:extLst>
              <a:ext uri="{FF2B5EF4-FFF2-40B4-BE49-F238E27FC236}">
                <a16:creationId xmlns:a16="http://schemas.microsoft.com/office/drawing/2014/main" id="{25535935-09E4-4A8C-AFDF-3E66E33336CA}"/>
              </a:ext>
            </a:extLst>
          </p:cNvPr>
          <p:cNvSpPr>
            <a:spLocks noGrp="1"/>
          </p:cNvSpPr>
          <p:nvPr/>
        </p:nvSpPr>
        <p:spPr>
          <a:xfrm>
            <a:off x="3276600" y="4105275"/>
            <a:ext cx="2714625" cy="3810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CFAF7"/>
            </a:solidFill>
          </a:ln>
        </p:spPr>
      </p:sp>
      <p:sp>
        <p:nvSpPr>
          <p:cNvPr id="25" name="card-head-design">
            <a:extLst>
              <a:ext uri="{FF2B5EF4-FFF2-40B4-BE49-F238E27FC236}">
                <a16:creationId xmlns:a16="http://schemas.microsoft.com/office/drawing/2014/main" id="{DE09DE2E-DCB1-4D44-9A2E-B3413288F2F0}"/>
              </a:ext>
            </a:extLst>
          </p:cNvPr>
          <p:cNvSpPr>
            <a:spLocks noGrp="1"/>
          </p:cNvSpPr>
          <p:nvPr/>
        </p:nvSpPr>
        <p:spPr>
          <a:xfrm>
            <a:off x="3286125" y="4114800"/>
            <a:ext cx="2695575" cy="619125"/>
          </a:xfrm>
          <a:prstGeom prst="roundRect">
            <a:avLst>
              <a:gd name="adj" fmla="val 12308"/>
            </a:avLst>
          </a:prstGeom>
          <a:solidFill>
            <a:srgbClr val="ECFAF7"/>
          </a:solidFill>
          <a:ln w="0">
            <a:noFill/>
          </a:ln>
        </p:spPr>
      </p:sp>
      <p:sp>
        <p:nvSpPr>
          <p:cNvPr id="26" name="heading-design">
            <a:extLst>
              <a:ext uri="{FF2B5EF4-FFF2-40B4-BE49-F238E27FC236}">
                <a16:creationId xmlns:a16="http://schemas.microsoft.com/office/drawing/2014/main" id="{2A0480C0-810D-4620-8A48-8A6AC3D33281}"/>
              </a:ext>
            </a:extLst>
          </p:cNvPr>
          <p:cNvSpPr>
            <a:spLocks noGrp="1"/>
          </p:cNvSpPr>
          <p:nvPr/>
        </p:nvSpPr>
        <p:spPr>
          <a:xfrm>
            <a:off x="3457575" y="4219575"/>
            <a:ext cx="14954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流程设计</a:t>
            </a:r>
          </a:p>
        </p:txBody>
      </p:sp>
      <p:sp>
        <p:nvSpPr>
          <p:cNvPr id="27" name="status-design">
            <a:extLst>
              <a:ext uri="{FF2B5EF4-FFF2-40B4-BE49-F238E27FC236}">
                <a16:creationId xmlns:a16="http://schemas.microsoft.com/office/drawing/2014/main" id="{6787EF8B-4DF6-4C66-99B6-E29382C954AA}"/>
              </a:ext>
            </a:extLst>
          </p:cNvPr>
          <p:cNvSpPr>
            <a:spLocks noGrp="1"/>
          </p:cNvSpPr>
          <p:nvPr/>
        </p:nvSpPr>
        <p:spPr>
          <a:xfrm>
            <a:off x="5124450" y="4286250"/>
            <a:ext cx="714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425" b="1">
                <a:solidFill>
                  <a:srgbClr val="009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9B8C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pic>
        <p:nvPicPr>
          <p:cNvPr id="88" name="case03-art-1" descr="case03-art-1"/>
          <p:cNvPicPr>
            <a:picLocks/>
          </p:cNvPicPr>
          <p:nvPr/>
        </p:nvPicPr>
        <p:blipFill>
          <a:blip r:embed="rId4"/>
          <a:srcRect l="22200" t="32000" r="58800" b="32000"/>
          <a:stretch/>
        </p:blipFill>
        <p:spPr>
          <a:xfrm>
            <a:off x="3502819" y="4829175"/>
            <a:ext cx="2262187" cy="1428750"/>
          </a:xfrm>
          <a:prstGeom prst="rect">
            <a:avLst/>
          </a:prstGeom>
        </p:spPr>
      </p:pic>
      <p:sp>
        <p:nvSpPr>
          <p:cNvPr id="29" name="body-design-0">
            <a:extLst>
              <a:ext uri="{FF2B5EF4-FFF2-40B4-BE49-F238E27FC236}">
                <a16:creationId xmlns:a16="http://schemas.microsoft.com/office/drawing/2014/main" id="{4795AAFE-ADC2-47CB-B000-18411E851A18}"/>
              </a:ext>
            </a:extLst>
          </p:cNvPr>
          <p:cNvSpPr>
            <a:spLocks noGrp="1"/>
          </p:cNvSpPr>
          <p:nvPr/>
        </p:nvSpPr>
        <p:spPr>
          <a:xfrm>
            <a:off x="3467100" y="6286500"/>
            <a:ext cx="2371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已完成核心流程设计</a:t>
            </a:r>
          </a:p>
        </p:txBody>
      </p:sp>
      <p:sp>
        <p:nvSpPr>
          <p:cNvPr id="30" name="body-design-1">
            <a:extLst>
              <a:ext uri="{FF2B5EF4-FFF2-40B4-BE49-F238E27FC236}">
                <a16:creationId xmlns:a16="http://schemas.microsoft.com/office/drawing/2014/main" id="{4D349794-D137-4779-B391-AC179AAC2E1E}"/>
              </a:ext>
            </a:extLst>
          </p:cNvPr>
          <p:cNvSpPr>
            <a:spLocks noGrp="1"/>
          </p:cNvSpPr>
          <p:nvPr/>
        </p:nvSpPr>
        <p:spPr>
          <a:xfrm>
            <a:off x="3467100" y="6686550"/>
            <a:ext cx="2371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和交互验证</a:t>
            </a:r>
          </a:p>
        </p:txBody>
      </p:sp>
      <p:sp>
        <p:nvSpPr>
          <p:cNvPr id="31" name="rule-design">
            <a:extLst>
              <a:ext uri="{FF2B5EF4-FFF2-40B4-BE49-F238E27FC236}">
                <a16:creationId xmlns:a16="http://schemas.microsoft.com/office/drawing/2014/main" id="{9F842FE9-A0C1-4662-ACFB-0E521B3EBDCA}"/>
              </a:ext>
            </a:extLst>
          </p:cNvPr>
          <p:cNvSpPr>
            <a:spLocks noGrp="1"/>
          </p:cNvSpPr>
          <p:nvPr/>
        </p:nvSpPr>
        <p:spPr>
          <a:xfrm>
            <a:off x="3476625" y="7219950"/>
            <a:ext cx="2314575" cy="9525"/>
          </a:xfrm>
          <a:prstGeom prst="rect">
            <a:avLst/>
          </a:prstGeom>
          <a:solidFill>
            <a:srgbClr val="ECFAF7"/>
          </a:solidFill>
          <a:ln w="0">
            <a:noFill/>
          </a:ln>
        </p:spPr>
      </p:sp>
      <p:sp>
        <p:nvSpPr>
          <p:cNvPr id="32" name="note-design">
            <a:extLst>
              <a:ext uri="{FF2B5EF4-FFF2-40B4-BE49-F238E27FC236}">
                <a16:creationId xmlns:a16="http://schemas.microsoft.com/office/drawing/2014/main" id="{D4372E57-DDCD-46B6-89EA-DA3B83950657}"/>
              </a:ext>
            </a:extLst>
          </p:cNvPr>
          <p:cNvSpPr>
            <a:spLocks noGrp="1"/>
          </p:cNvSpPr>
          <p:nvPr/>
        </p:nvSpPr>
        <p:spPr>
          <a:xfrm>
            <a:off x="3476625" y="7381875"/>
            <a:ext cx="23431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7786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7869E"/>
                </a:solidFill>
                <a:latin typeface="Microsoft YaHei"/>
                <a:ea typeface="Microsoft YaHei"/>
                <a:cs typeface="Microsoft YaHei"/>
              </a:rPr>
              <a:t>核心流程已验证</a:t>
            </a:r>
          </a:p>
        </p:txBody>
      </p:sp>
      <p:sp>
        <p:nvSpPr>
          <p:cNvPr id="33" name="card-pilot">
            <a:extLst>
              <a:ext uri="{FF2B5EF4-FFF2-40B4-BE49-F238E27FC236}">
                <a16:creationId xmlns:a16="http://schemas.microsoft.com/office/drawing/2014/main" id="{E6298CB2-7E20-41F0-A002-8DBAB6968E8B}"/>
              </a:ext>
            </a:extLst>
          </p:cNvPr>
          <p:cNvSpPr>
            <a:spLocks noGrp="1"/>
          </p:cNvSpPr>
          <p:nvPr/>
        </p:nvSpPr>
        <p:spPr>
          <a:xfrm>
            <a:off x="6191250" y="4105275"/>
            <a:ext cx="2714625" cy="3810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EF5FF"/>
            </a:solidFill>
          </a:ln>
        </p:spPr>
      </p:sp>
      <p:sp>
        <p:nvSpPr>
          <p:cNvPr id="34" name="card-head-pilot">
            <a:extLst>
              <a:ext uri="{FF2B5EF4-FFF2-40B4-BE49-F238E27FC236}">
                <a16:creationId xmlns:a16="http://schemas.microsoft.com/office/drawing/2014/main" id="{C8F8D368-74FA-40BA-9B8E-2886CCEA5EB8}"/>
              </a:ext>
            </a:extLst>
          </p:cNvPr>
          <p:cNvSpPr>
            <a:spLocks noGrp="1"/>
          </p:cNvSpPr>
          <p:nvPr/>
        </p:nvSpPr>
        <p:spPr>
          <a:xfrm>
            <a:off x="6200775" y="4114800"/>
            <a:ext cx="2695575" cy="619125"/>
          </a:xfrm>
          <a:prstGeom prst="roundRect">
            <a:avLst>
              <a:gd name="adj" fmla="val 12308"/>
            </a:avLst>
          </a:prstGeom>
          <a:solidFill>
            <a:srgbClr val="EEF5FF"/>
          </a:solidFill>
          <a:ln w="0">
            <a:noFill/>
          </a:ln>
        </p:spPr>
      </p:sp>
      <p:sp>
        <p:nvSpPr>
          <p:cNvPr id="35" name="heading-pilot">
            <a:extLst>
              <a:ext uri="{FF2B5EF4-FFF2-40B4-BE49-F238E27FC236}">
                <a16:creationId xmlns:a16="http://schemas.microsoft.com/office/drawing/2014/main" id="{6A50719E-2AF9-423E-9250-F7D2926A436A}"/>
              </a:ext>
            </a:extLst>
          </p:cNvPr>
          <p:cNvSpPr>
            <a:spLocks noGrp="1"/>
          </p:cNvSpPr>
          <p:nvPr/>
        </p:nvSpPr>
        <p:spPr>
          <a:xfrm>
            <a:off x="6372225" y="4219575"/>
            <a:ext cx="14954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灰度测试</a:t>
            </a:r>
          </a:p>
        </p:txBody>
      </p:sp>
      <p:sp>
        <p:nvSpPr>
          <p:cNvPr id="36" name="status-pilot">
            <a:extLst>
              <a:ext uri="{FF2B5EF4-FFF2-40B4-BE49-F238E27FC236}">
                <a16:creationId xmlns:a16="http://schemas.microsoft.com/office/drawing/2014/main" id="{00DA8307-0AD0-42B7-AE41-D4995271A617}"/>
              </a:ext>
            </a:extLst>
          </p:cNvPr>
          <p:cNvSpPr>
            <a:spLocks noGrp="1"/>
          </p:cNvSpPr>
          <p:nvPr/>
        </p:nvSpPr>
        <p:spPr>
          <a:xfrm>
            <a:off x="8039100" y="4286250"/>
            <a:ext cx="714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425" b="1">
                <a:solidFill>
                  <a:srgbClr val="126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67EF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pic>
        <p:nvPicPr>
          <p:cNvPr id="97" name="case03-art-2" descr="case03-art-2"/>
          <p:cNvPicPr>
            <a:picLocks/>
          </p:cNvPicPr>
          <p:nvPr/>
        </p:nvPicPr>
        <p:blipFill>
          <a:blip r:embed="rId4"/>
          <a:srcRect l="41800" t="32000" r="39000" b="32000"/>
          <a:stretch/>
        </p:blipFill>
        <p:spPr>
          <a:xfrm>
            <a:off x="6410325" y="4832152"/>
            <a:ext cx="2276475" cy="1422796"/>
          </a:xfrm>
          <a:prstGeom prst="rect">
            <a:avLst/>
          </a:prstGeom>
        </p:spPr>
      </p:pic>
      <p:sp>
        <p:nvSpPr>
          <p:cNvPr id="38" name="body-pilot-0">
            <a:extLst>
              <a:ext uri="{FF2B5EF4-FFF2-40B4-BE49-F238E27FC236}">
                <a16:creationId xmlns:a16="http://schemas.microsoft.com/office/drawing/2014/main" id="{4A523C8F-4284-4AB2-A864-14545BA38F60}"/>
              </a:ext>
            </a:extLst>
          </p:cNvPr>
          <p:cNvSpPr>
            <a:spLocks noGrp="1"/>
          </p:cNvSpPr>
          <p:nvPr/>
        </p:nvSpPr>
        <p:spPr>
          <a:xfrm>
            <a:off x="6381750" y="6286500"/>
            <a:ext cx="2371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已向首批 100 位用户</a:t>
            </a:r>
          </a:p>
        </p:txBody>
      </p:sp>
      <p:sp>
        <p:nvSpPr>
          <p:cNvPr id="39" name="body-pilot-1">
            <a:extLst>
              <a:ext uri="{FF2B5EF4-FFF2-40B4-BE49-F238E27FC236}">
                <a16:creationId xmlns:a16="http://schemas.microsoft.com/office/drawing/2014/main" id="{8320E7E9-2F7B-42B1-BF7F-5527544224FC}"/>
              </a:ext>
            </a:extLst>
          </p:cNvPr>
          <p:cNvSpPr>
            <a:spLocks noGrp="1"/>
          </p:cNvSpPr>
          <p:nvPr/>
        </p:nvSpPr>
        <p:spPr>
          <a:xfrm>
            <a:off x="6381750" y="6686550"/>
            <a:ext cx="2371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开放灰度测试</a:t>
            </a:r>
          </a:p>
        </p:txBody>
      </p:sp>
      <p:sp>
        <p:nvSpPr>
          <p:cNvPr id="40" name="rule-pilot">
            <a:extLst>
              <a:ext uri="{FF2B5EF4-FFF2-40B4-BE49-F238E27FC236}">
                <a16:creationId xmlns:a16="http://schemas.microsoft.com/office/drawing/2014/main" id="{894B14C4-8412-48AC-8BCD-3CB1E5ABD7BD}"/>
              </a:ext>
            </a:extLst>
          </p:cNvPr>
          <p:cNvSpPr>
            <a:spLocks noGrp="1"/>
          </p:cNvSpPr>
          <p:nvPr/>
        </p:nvSpPr>
        <p:spPr>
          <a:xfrm>
            <a:off x="6391275" y="7219950"/>
            <a:ext cx="2314575" cy="9525"/>
          </a:xfrm>
          <a:prstGeom prst="rect">
            <a:avLst/>
          </a:prstGeom>
          <a:solidFill>
            <a:srgbClr val="EEF5FF"/>
          </a:solidFill>
          <a:ln w="0">
            <a:noFill/>
          </a:ln>
        </p:spPr>
      </p:sp>
      <p:sp>
        <p:nvSpPr>
          <p:cNvPr id="41" name="note-pilot">
            <a:extLst>
              <a:ext uri="{FF2B5EF4-FFF2-40B4-BE49-F238E27FC236}">
                <a16:creationId xmlns:a16="http://schemas.microsoft.com/office/drawing/2014/main" id="{1C3B245A-59DB-4400-9D13-9C59DADB9BE8}"/>
              </a:ext>
            </a:extLst>
          </p:cNvPr>
          <p:cNvSpPr>
            <a:spLocks noGrp="1"/>
          </p:cNvSpPr>
          <p:nvPr/>
        </p:nvSpPr>
        <p:spPr>
          <a:xfrm>
            <a:off x="6391275" y="7381875"/>
            <a:ext cx="23431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7786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7869E"/>
                </a:solidFill>
                <a:latin typeface="Microsoft YaHei"/>
                <a:ea typeface="Microsoft YaHei"/>
                <a:cs typeface="Microsoft YaHei"/>
              </a:rPr>
              <a:t>当前处于灰度阶段</a:t>
            </a:r>
          </a:p>
        </p:txBody>
      </p:sp>
      <p:sp>
        <p:nvSpPr>
          <p:cNvPr id="42" name="card-risk">
            <a:extLst>
              <a:ext uri="{FF2B5EF4-FFF2-40B4-BE49-F238E27FC236}">
                <a16:creationId xmlns:a16="http://schemas.microsoft.com/office/drawing/2014/main" id="{28E82113-2C95-4798-9604-11E3C7F9AE6B}"/>
              </a:ext>
            </a:extLst>
          </p:cNvPr>
          <p:cNvSpPr>
            <a:spLocks noGrp="1"/>
          </p:cNvSpPr>
          <p:nvPr/>
        </p:nvSpPr>
        <p:spPr>
          <a:xfrm>
            <a:off x="9105900" y="4105275"/>
            <a:ext cx="2714625" cy="3810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FFF0F2"/>
            </a:solidFill>
          </a:ln>
        </p:spPr>
      </p:sp>
      <p:sp>
        <p:nvSpPr>
          <p:cNvPr id="43" name="card-head-risk">
            <a:extLst>
              <a:ext uri="{FF2B5EF4-FFF2-40B4-BE49-F238E27FC236}">
                <a16:creationId xmlns:a16="http://schemas.microsoft.com/office/drawing/2014/main" id="{38E04F71-3D7B-4C59-A0DB-8A78A1835034}"/>
              </a:ext>
            </a:extLst>
          </p:cNvPr>
          <p:cNvSpPr>
            <a:spLocks noGrp="1"/>
          </p:cNvSpPr>
          <p:nvPr/>
        </p:nvSpPr>
        <p:spPr>
          <a:xfrm>
            <a:off x="9115425" y="4114800"/>
            <a:ext cx="2695575" cy="619125"/>
          </a:xfrm>
          <a:prstGeom prst="roundRect">
            <a:avLst>
              <a:gd name="adj" fmla="val 12308"/>
            </a:avLst>
          </a:prstGeom>
          <a:solidFill>
            <a:srgbClr val="FFF0F2"/>
          </a:solidFill>
          <a:ln w="0">
            <a:noFill/>
          </a:ln>
        </p:spPr>
      </p:sp>
      <p:sp>
        <p:nvSpPr>
          <p:cNvPr id="44" name="heading-risk">
            <a:extLst>
              <a:ext uri="{FF2B5EF4-FFF2-40B4-BE49-F238E27FC236}">
                <a16:creationId xmlns:a16="http://schemas.microsoft.com/office/drawing/2014/main" id="{0911336F-D3F4-4EB0-A9E0-2F35AAF8A716}"/>
              </a:ext>
            </a:extLst>
          </p:cNvPr>
          <p:cNvSpPr>
            <a:spLocks noGrp="1"/>
          </p:cNvSpPr>
          <p:nvPr/>
        </p:nvSpPr>
        <p:spPr>
          <a:xfrm>
            <a:off x="9286875" y="4219575"/>
            <a:ext cx="14954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当前问题</a:t>
            </a:r>
          </a:p>
        </p:txBody>
      </p:sp>
      <p:sp>
        <p:nvSpPr>
          <p:cNvPr id="45" name="status-risk">
            <a:extLst>
              <a:ext uri="{FF2B5EF4-FFF2-40B4-BE49-F238E27FC236}">
                <a16:creationId xmlns:a16="http://schemas.microsoft.com/office/drawing/2014/main" id="{5947A97B-D22D-4BEC-90E5-4CDD341DF0CD}"/>
              </a:ext>
            </a:extLst>
          </p:cNvPr>
          <p:cNvSpPr>
            <a:spLocks noGrp="1"/>
          </p:cNvSpPr>
          <p:nvPr/>
        </p:nvSpPr>
        <p:spPr>
          <a:xfrm>
            <a:off x="10953750" y="4286250"/>
            <a:ext cx="714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425" b="1">
                <a:solidFill>
                  <a:srgbClr val="E9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3349"/>
                </a:solidFill>
                <a:latin typeface="Microsoft YaHei"/>
                <a:ea typeface="Microsoft YaHei"/>
                <a:cs typeface="Microsoft YaHei"/>
              </a:rPr>
              <a:t>未解决</a:t>
            </a:r>
          </a:p>
        </p:txBody>
      </p:sp>
      <p:pic>
        <p:nvPicPr>
          <p:cNvPr id="106" name="case03-art-3" descr="case03-art-3"/>
          <p:cNvPicPr>
            <a:picLocks/>
          </p:cNvPicPr>
          <p:nvPr/>
        </p:nvPicPr>
        <p:blipFill>
          <a:blip r:embed="rId4"/>
          <a:srcRect l="62000" t="32000" r="20000" b="32000"/>
          <a:stretch/>
        </p:blipFill>
        <p:spPr>
          <a:xfrm>
            <a:off x="9391650" y="4829175"/>
            <a:ext cx="2143125" cy="1428750"/>
          </a:xfrm>
          <a:prstGeom prst="rect">
            <a:avLst/>
          </a:prstGeom>
        </p:spPr>
      </p:pic>
      <p:sp>
        <p:nvSpPr>
          <p:cNvPr id="47" name="risk-detail">
            <a:extLst>
              <a:ext uri="{FF2B5EF4-FFF2-40B4-BE49-F238E27FC236}">
                <a16:creationId xmlns:a16="http://schemas.microsoft.com/office/drawing/2014/main" id="{DD652638-8D1E-4805-8DCA-F63372D35BC8}"/>
              </a:ext>
            </a:extLst>
          </p:cNvPr>
          <p:cNvSpPr>
            <a:spLocks noGrp="1"/>
          </p:cNvSpPr>
          <p:nvPr/>
        </p:nvSpPr>
        <p:spPr>
          <a:xfrm>
            <a:off x="9296400" y="6286500"/>
            <a:ext cx="2371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1">
                <a:solidFill>
                  <a:srgbClr val="E9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93349"/>
                </a:solidFill>
                <a:latin typeface="Microsoft YaHei"/>
                <a:ea typeface="Microsoft YaHei"/>
                <a:cs typeface="Microsoft YaHei"/>
              </a:rPr>
              <a:t>支付联调延期 2 天</a:t>
            </a:r>
          </a:p>
        </p:txBody>
      </p:sp>
      <p:sp>
        <p:nvSpPr>
          <p:cNvPr id="48" name="body-risk-1">
            <a:extLst>
              <a:ext uri="{FF2B5EF4-FFF2-40B4-BE49-F238E27FC236}">
                <a16:creationId xmlns:a16="http://schemas.microsoft.com/office/drawing/2014/main" id="{C0C53025-792F-4AAB-A8DA-F7E7ED724391}"/>
              </a:ext>
            </a:extLst>
          </p:cNvPr>
          <p:cNvSpPr>
            <a:spLocks noGrp="1"/>
          </p:cNvSpPr>
          <p:nvPr/>
        </p:nvSpPr>
        <p:spPr>
          <a:xfrm>
            <a:off x="9296400" y="6686550"/>
            <a:ext cx="2371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支付稳定性仍需跟进</a:t>
            </a:r>
          </a:p>
        </p:txBody>
      </p:sp>
      <p:sp>
        <p:nvSpPr>
          <p:cNvPr id="49" name="rule-risk">
            <a:extLst>
              <a:ext uri="{FF2B5EF4-FFF2-40B4-BE49-F238E27FC236}">
                <a16:creationId xmlns:a16="http://schemas.microsoft.com/office/drawing/2014/main" id="{5E640555-E8AF-4C08-A270-3A46B69F94C4}"/>
              </a:ext>
            </a:extLst>
          </p:cNvPr>
          <p:cNvSpPr>
            <a:spLocks noGrp="1"/>
          </p:cNvSpPr>
          <p:nvPr/>
        </p:nvSpPr>
        <p:spPr>
          <a:xfrm>
            <a:off x="9305925" y="7219950"/>
            <a:ext cx="2314575" cy="9525"/>
          </a:xfrm>
          <a:prstGeom prst="rect">
            <a:avLst/>
          </a:prstGeom>
          <a:solidFill>
            <a:srgbClr val="FFF0F2"/>
          </a:solidFill>
          <a:ln w="0">
            <a:noFill/>
          </a:ln>
        </p:spPr>
      </p:sp>
      <p:sp>
        <p:nvSpPr>
          <p:cNvPr id="50" name="note-risk">
            <a:extLst>
              <a:ext uri="{FF2B5EF4-FFF2-40B4-BE49-F238E27FC236}">
                <a16:creationId xmlns:a16="http://schemas.microsoft.com/office/drawing/2014/main" id="{9C041746-B830-4773-87CA-D11E8A020A35}"/>
              </a:ext>
            </a:extLst>
          </p:cNvPr>
          <p:cNvSpPr>
            <a:spLocks noGrp="1"/>
          </p:cNvSpPr>
          <p:nvPr/>
        </p:nvSpPr>
        <p:spPr>
          <a:xfrm>
            <a:off x="9305925" y="7381875"/>
            <a:ext cx="23431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7786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7869E"/>
                </a:solidFill>
                <a:latin typeface="Microsoft YaHei"/>
                <a:ea typeface="Microsoft YaHei"/>
                <a:cs typeface="Microsoft YaHei"/>
              </a:rPr>
              <a:t>支付风险仍需跟进</a:t>
            </a:r>
          </a:p>
        </p:txBody>
      </p:sp>
      <p:sp>
        <p:nvSpPr>
          <p:cNvPr id="51" name="card-next">
            <a:extLst>
              <a:ext uri="{FF2B5EF4-FFF2-40B4-BE49-F238E27FC236}">
                <a16:creationId xmlns:a16="http://schemas.microsoft.com/office/drawing/2014/main" id="{13B9309A-3FD3-426E-927F-C2C6080FF124}"/>
              </a:ext>
            </a:extLst>
          </p:cNvPr>
          <p:cNvSpPr>
            <a:spLocks noGrp="1"/>
          </p:cNvSpPr>
          <p:nvPr/>
        </p:nvSpPr>
        <p:spPr>
          <a:xfrm>
            <a:off x="12020550" y="4105275"/>
            <a:ext cx="2714625" cy="3810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FFF8E9"/>
            </a:solidFill>
          </a:ln>
        </p:spPr>
      </p:sp>
      <p:sp>
        <p:nvSpPr>
          <p:cNvPr id="52" name="card-head-next">
            <a:extLst>
              <a:ext uri="{FF2B5EF4-FFF2-40B4-BE49-F238E27FC236}">
                <a16:creationId xmlns:a16="http://schemas.microsoft.com/office/drawing/2014/main" id="{7B6535FE-8E2B-4CF8-BB81-F72D02A1B106}"/>
              </a:ext>
            </a:extLst>
          </p:cNvPr>
          <p:cNvSpPr>
            <a:spLocks noGrp="1"/>
          </p:cNvSpPr>
          <p:nvPr/>
        </p:nvSpPr>
        <p:spPr>
          <a:xfrm>
            <a:off x="12030075" y="4114800"/>
            <a:ext cx="2695575" cy="619125"/>
          </a:xfrm>
          <a:prstGeom prst="roundRect">
            <a:avLst>
              <a:gd name="adj" fmla="val 12308"/>
            </a:avLst>
          </a:prstGeom>
          <a:solidFill>
            <a:srgbClr val="FFF8E9"/>
          </a:solidFill>
          <a:ln w="0">
            <a:noFill/>
          </a:ln>
        </p:spPr>
      </p:sp>
      <p:sp>
        <p:nvSpPr>
          <p:cNvPr id="53" name="heading-next">
            <a:extLst>
              <a:ext uri="{FF2B5EF4-FFF2-40B4-BE49-F238E27FC236}">
                <a16:creationId xmlns:a16="http://schemas.microsoft.com/office/drawing/2014/main" id="{A4213D8C-8643-4BCC-BE9A-8469A59314FA}"/>
              </a:ext>
            </a:extLst>
          </p:cNvPr>
          <p:cNvSpPr>
            <a:spLocks noGrp="1"/>
          </p:cNvSpPr>
          <p:nvPr/>
        </p:nvSpPr>
        <p:spPr>
          <a:xfrm>
            <a:off x="12201525" y="4219575"/>
            <a:ext cx="14954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下周重点</a:t>
            </a:r>
          </a:p>
        </p:txBody>
      </p:sp>
      <p:sp>
        <p:nvSpPr>
          <p:cNvPr id="54" name="status-next">
            <a:extLst>
              <a:ext uri="{FF2B5EF4-FFF2-40B4-BE49-F238E27FC236}">
                <a16:creationId xmlns:a16="http://schemas.microsoft.com/office/drawing/2014/main" id="{83DE9F57-ADFC-4949-9489-0661D8E3DF94}"/>
              </a:ext>
            </a:extLst>
          </p:cNvPr>
          <p:cNvSpPr>
            <a:spLocks noGrp="1"/>
          </p:cNvSpPr>
          <p:nvPr/>
        </p:nvSpPr>
        <p:spPr>
          <a:xfrm>
            <a:off x="13868400" y="4286250"/>
            <a:ext cx="714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425" b="1">
                <a:solidFill>
                  <a:srgbClr val="E59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59A11"/>
                </a:solidFill>
                <a:latin typeface="Microsoft YaHei"/>
                <a:ea typeface="Microsoft YaHei"/>
                <a:cs typeface="Microsoft YaHei"/>
              </a:rPr>
              <a:t>待执行</a:t>
            </a:r>
          </a:p>
        </p:txBody>
      </p:sp>
      <p:pic>
        <p:nvPicPr>
          <p:cNvPr id="115" name="case03-art-4" descr="case03-art-4"/>
          <p:cNvPicPr>
            <a:picLocks/>
          </p:cNvPicPr>
          <p:nvPr/>
        </p:nvPicPr>
        <p:blipFill>
          <a:blip r:embed="rId4"/>
          <a:srcRect l="82000" t="32000" r="2000" b="32000"/>
          <a:stretch/>
        </p:blipFill>
        <p:spPr>
          <a:xfrm>
            <a:off x="12425363" y="4829175"/>
            <a:ext cx="1905000" cy="1428750"/>
          </a:xfrm>
          <a:prstGeom prst="rect">
            <a:avLst/>
          </a:prstGeom>
        </p:spPr>
      </p:pic>
      <p:sp>
        <p:nvSpPr>
          <p:cNvPr id="56" name="body-next-0">
            <a:extLst>
              <a:ext uri="{FF2B5EF4-FFF2-40B4-BE49-F238E27FC236}">
                <a16:creationId xmlns:a16="http://schemas.microsoft.com/office/drawing/2014/main" id="{8F008469-D2A3-4C58-BC72-BE154DB34E55}"/>
              </a:ext>
            </a:extLst>
          </p:cNvPr>
          <p:cNvSpPr>
            <a:spLocks noGrp="1"/>
          </p:cNvSpPr>
          <p:nvPr/>
        </p:nvSpPr>
        <p:spPr>
          <a:xfrm>
            <a:off x="12211050" y="6286500"/>
            <a:ext cx="2371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修复支付异常</a:t>
            </a:r>
          </a:p>
        </p:txBody>
      </p:sp>
      <p:sp>
        <p:nvSpPr>
          <p:cNvPr id="57" name="body-next-1">
            <a:extLst>
              <a:ext uri="{FF2B5EF4-FFF2-40B4-BE49-F238E27FC236}">
                <a16:creationId xmlns:a16="http://schemas.microsoft.com/office/drawing/2014/main" id="{A218346C-5D32-4F6B-95A6-FD653B912F64}"/>
              </a:ext>
            </a:extLst>
          </p:cNvPr>
          <p:cNvSpPr>
            <a:spLocks noGrp="1"/>
          </p:cNvSpPr>
          <p:nvPr/>
        </p:nvSpPr>
        <p:spPr>
          <a:xfrm>
            <a:off x="12211050" y="6686550"/>
            <a:ext cx="2371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7162F"/>
                </a:solidFill>
                <a:latin typeface="Microsoft YaHei"/>
                <a:ea typeface="Microsoft YaHei"/>
                <a:cs typeface="Microsoft YaHei"/>
              </a:rPr>
              <a:t>收集首批用户反馈</a:t>
            </a:r>
          </a:p>
        </p:txBody>
      </p:sp>
      <p:sp>
        <p:nvSpPr>
          <p:cNvPr id="58" name="rule-next">
            <a:extLst>
              <a:ext uri="{FF2B5EF4-FFF2-40B4-BE49-F238E27FC236}">
                <a16:creationId xmlns:a16="http://schemas.microsoft.com/office/drawing/2014/main" id="{09AB2ABF-16D8-43A6-9D8A-3600E85D4142}"/>
              </a:ext>
            </a:extLst>
          </p:cNvPr>
          <p:cNvSpPr>
            <a:spLocks noGrp="1"/>
          </p:cNvSpPr>
          <p:nvPr/>
        </p:nvSpPr>
        <p:spPr>
          <a:xfrm>
            <a:off x="12220575" y="7219950"/>
            <a:ext cx="2314575" cy="9525"/>
          </a:xfrm>
          <a:prstGeom prst="rect">
            <a:avLst/>
          </a:prstGeom>
          <a:solidFill>
            <a:srgbClr val="FFF8E9"/>
          </a:solidFill>
          <a:ln w="0">
            <a:noFill/>
          </a:ln>
        </p:spPr>
      </p:sp>
      <p:sp>
        <p:nvSpPr>
          <p:cNvPr id="59" name="note-next">
            <a:extLst>
              <a:ext uri="{FF2B5EF4-FFF2-40B4-BE49-F238E27FC236}">
                <a16:creationId xmlns:a16="http://schemas.microsoft.com/office/drawing/2014/main" id="{A43983E2-F150-4CEB-9C2D-6AD4C107FB5A}"/>
              </a:ext>
            </a:extLst>
          </p:cNvPr>
          <p:cNvSpPr>
            <a:spLocks noGrp="1"/>
          </p:cNvSpPr>
          <p:nvPr/>
        </p:nvSpPr>
        <p:spPr>
          <a:xfrm>
            <a:off x="12220575" y="7381875"/>
            <a:ext cx="23431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7786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7869E"/>
                </a:solidFill>
                <a:latin typeface="Microsoft YaHei"/>
                <a:ea typeface="Microsoft YaHei"/>
                <a:cs typeface="Microsoft YaHei"/>
              </a:rPr>
              <a:t>下周计划，尚待执行</a:t>
            </a:r>
          </a:p>
        </p:txBody>
      </p:sp>
      <p:sp>
        <p:nvSpPr>
          <p:cNvPr id="60" name="disclosure">
            <a:extLst>
              <a:ext uri="{FF2B5EF4-FFF2-40B4-BE49-F238E27FC236}">
                <a16:creationId xmlns:a16="http://schemas.microsoft.com/office/drawing/2014/main" id="{C67721B7-895B-4EEC-9D57-D7B7DC64EAEE}"/>
              </a:ext>
            </a:extLst>
          </p:cNvPr>
          <p:cNvSpPr>
            <a:spLocks noGrp="1"/>
          </p:cNvSpPr>
          <p:nvPr/>
        </p:nvSpPr>
        <p:spPr>
          <a:xfrm>
            <a:off x="361950" y="8172450"/>
            <a:ext cx="14287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500" b="0">
                <a:solidFill>
                  <a:srgbClr val="7181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18199"/>
                </a:solidFill>
                <a:latin typeface="Microsoft YaHei"/>
                <a:ea typeface="Microsoft YaHei"/>
                <a:cs typeface="Microsoft YaHei"/>
              </a:rPr>
              <a:t>虚构项目与数据，仅用于功能演示</a:t>
            </a:r>
          </a:p>
        </p:txBody>
      </p:sp>
    </p:spTree>
    <p:extLst>
      <p:ext uri="{BB962C8B-B14F-4D97-AF65-F5344CB8AC3E}">
        <p14:creationId xmlns:p14="http://schemas.microsoft.com/office/powerpoint/2010/main" val="659783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DocSecurity>0</DocSecurity>
  <PresentationFormat>自定义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zgg</cp:lastModifiedBy>
  <cp:revision>1</cp:revision>
  <dcterms:created xsi:type="dcterms:W3CDTF">2026-09-17T16:38:19Z</dcterms:created>
  <dcterms:modified xsi:type="dcterms:W3CDTF">2026-09-17T16:39:03Z</dcterms:modified>
</cp:coreProperties>
</file>