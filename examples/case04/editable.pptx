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一句话案例，原始提示词：做一页AI发展史。精选5个里程碑，非完整历史；发展并非线性，也不代表旧方法消失。1956会议促进AI领域建立，术语见1955提案；1997深蓝赢得对卡斯帕罗夫的六局比赛；2012 AlexNet 在ImageNet竞赛取得突破；2016 AlphaGo以4比1胜李世石；2022年11月30日ChatGPT研究预览发布。人物与机器人画面是AI概念插画，非历史照片，实体机器人不代表ChatGPT产品。</a:t>
            </a:r>
          </a:p>
          <a:p>
            <a:r>
              <a:t>来源：</a:t>
            </a:r>
          </a:p>
          <a:p>
            <a:r>
              <a:t>1956 https://ai.dartmouth.edu/our-story</a:t>
            </a:r>
          </a:p>
          <a:p>
            <a:r>
              <a:t>1997 https://www.ibm.com/history/deep-blue</a:t>
            </a:r>
          </a:p>
          <a:p>
            <a:r>
              <a:t>2012 https://www.cs.toronto.edu/~kriz/imagenet_classification_with_deep_convolutional.pdf</a:t>
            </a:r>
          </a:p>
          <a:p>
            <a:r>
              <a:t>2016 https://deepmind.google/research/alphago/</a:t>
            </a:r>
          </a:p>
          <a:p>
            <a:r>
              <a:t>2022 https://openai.com/index/chatgpt/</a:t>
            </a:r>
          </a:p>
          <a:p>
            <a:r>
              <a:t>文字、标签、节点与连接线原生可编辑。五组插画使用同一无文字图源的独立裁剪图片，可移动、缩放、替换；插画内部不可逐物体编辑。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art-dartmouth" descr="art-dartmouth"/>
          <p:cNvPicPr>
            <a:picLocks/>
          </p:cNvPicPr>
          <p:nvPr/>
        </p:nvPicPr>
        <p:blipFill>
          <a:blip r:embed="rId3"/>
          <a:srcRect r="79300"/>
          <a:stretch/>
        </p:blipFill>
        <p:spPr>
          <a:xfrm>
            <a:off x="838" y="0"/>
            <a:ext cx="3153003" cy="8572500"/>
          </a:xfrm>
          <a:prstGeom prst="rect">
            <a:avLst/>
          </a:prstGeom>
        </p:spPr>
      </p:pic>
      <p:pic>
        <p:nvPicPr>
          <p:cNvPr id="44" name="art-deepblue" descr="art-deepblue"/>
          <p:cNvPicPr>
            <a:picLocks/>
          </p:cNvPicPr>
          <p:nvPr/>
        </p:nvPicPr>
        <p:blipFill>
          <a:blip r:embed="rId3"/>
          <a:srcRect l="20700" r="60700"/>
          <a:stretch/>
        </p:blipFill>
        <p:spPr>
          <a:xfrm>
            <a:off x="3155433" y="0"/>
            <a:ext cx="2833133" cy="8572500"/>
          </a:xfrm>
          <a:prstGeom prst="rect">
            <a:avLst/>
          </a:prstGeom>
        </p:spPr>
      </p:pic>
      <p:pic>
        <p:nvPicPr>
          <p:cNvPr id="45" name="art-alexnet" descr="art-alexnet"/>
          <p:cNvPicPr>
            <a:picLocks/>
          </p:cNvPicPr>
          <p:nvPr/>
        </p:nvPicPr>
        <p:blipFill>
          <a:blip r:embed="rId3"/>
          <a:srcRect l="39300" r="42000"/>
          <a:stretch/>
        </p:blipFill>
        <p:spPr>
          <a:xfrm>
            <a:off x="5990077" y="0"/>
            <a:ext cx="2848365" cy="8572500"/>
          </a:xfrm>
          <a:prstGeom prst="rect">
            <a:avLst/>
          </a:prstGeom>
        </p:spPr>
      </p:pic>
      <p:pic>
        <p:nvPicPr>
          <p:cNvPr id="46" name="art-alphago" descr="art-alphago"/>
          <p:cNvPicPr>
            <a:picLocks/>
          </p:cNvPicPr>
          <p:nvPr/>
        </p:nvPicPr>
        <p:blipFill>
          <a:blip r:embed="rId3"/>
          <a:srcRect l="58000" r="23800"/>
          <a:stretch/>
        </p:blipFill>
        <p:spPr>
          <a:xfrm>
            <a:off x="8839937" y="0"/>
            <a:ext cx="2772206" cy="8572500"/>
          </a:xfrm>
          <a:prstGeom prst="rect">
            <a:avLst/>
          </a:prstGeom>
        </p:spPr>
      </p:pic>
      <p:pic>
        <p:nvPicPr>
          <p:cNvPr id="47" name="art-chatgpt" descr="art-chatgpt"/>
          <p:cNvPicPr>
            <a:picLocks/>
          </p:cNvPicPr>
          <p:nvPr/>
        </p:nvPicPr>
        <p:blipFill>
          <a:blip r:embed="rId3"/>
          <a:srcRect l="76200"/>
          <a:stretch/>
        </p:blipFill>
        <p:spPr>
          <a:xfrm>
            <a:off x="11613844" y="0"/>
            <a:ext cx="3625192" cy="857250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DCA20C4-78D4-47BE-8C09-76F10A719613}"/>
              </a:ext>
            </a:extLst>
          </p:cNvPr>
          <p:cNvSpPr>
            <a:spLocks noGrp="1"/>
          </p:cNvSpPr>
          <p:nvPr/>
        </p:nvSpPr>
        <p:spPr>
          <a:xfrm>
            <a:off x="3429000" y="47625"/>
            <a:ext cx="8382000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500" b="1">
                <a:solidFill>
                  <a:srgbClr val="F3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F3FAFF"/>
                </a:solidFill>
                <a:latin typeface="Microsoft YaHei"/>
                <a:ea typeface="Microsoft YaHei"/>
                <a:cs typeface="Microsoft YaHei"/>
              </a:rPr>
              <a:t>AI发展史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F229C988-9F50-4522-B7C1-CA317A3C1409}"/>
              </a:ext>
            </a:extLst>
          </p:cNvPr>
          <p:cNvSpPr>
            <a:spLocks noGrp="1"/>
          </p:cNvSpPr>
          <p:nvPr/>
        </p:nvSpPr>
        <p:spPr>
          <a:xfrm>
            <a:off x="3619500" y="1457325"/>
            <a:ext cx="8001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850" b="0">
                <a:solidFill>
                  <a:srgbClr val="ED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DF6FF"/>
                </a:solidFill>
                <a:latin typeface="Microsoft YaHei"/>
                <a:ea typeface="Microsoft YaHei"/>
                <a:cs typeface="Microsoft YaHei"/>
              </a:rPr>
              <a:t>从提出问题，到走进日常</a:t>
            </a:r>
          </a:p>
        </p:txBody>
      </p:sp>
      <p:sp>
        <p:nvSpPr>
          <p:cNvPr id="8" name="question">
            <a:extLst>
              <a:ext uri="{FF2B5EF4-FFF2-40B4-BE49-F238E27FC236}">
                <a16:creationId xmlns:a16="http://schemas.microsoft.com/office/drawing/2014/main" id="{54E36262-3979-4FDF-BF8F-BC1605596C60}"/>
              </a:ext>
            </a:extLst>
          </p:cNvPr>
          <p:cNvSpPr>
            <a:spLocks noGrp="1"/>
          </p:cNvSpPr>
          <p:nvPr/>
        </p:nvSpPr>
        <p:spPr>
          <a:xfrm>
            <a:off x="361950" y="628650"/>
            <a:ext cx="309562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75" b="0">
                <a:solidFill>
                  <a:srgbClr val="E1E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1E8EE"/>
                </a:solidFill>
                <a:latin typeface="Microsoft YaHei"/>
                <a:ea typeface="Microsoft YaHei"/>
                <a:cs typeface="Microsoft YaHei"/>
              </a:rPr>
              <a:t>机器能像人一样</a:t>
            </a:r>
          </a:p>
          <a:p>
            <a:pPr algn="ctr">
              <a:defRPr sz="2175" b="0">
                <a:solidFill>
                  <a:srgbClr val="E1E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1E8EE"/>
                </a:solidFill>
                <a:latin typeface="Microsoft YaHei"/>
                <a:ea typeface="Microsoft YaHei"/>
                <a:cs typeface="Microsoft YaHei"/>
              </a:rPr>
              <a:t>思考吗？</a:t>
            </a:r>
          </a:p>
        </p:txBody>
      </p:sp>
      <p:sp>
        <p:nvSpPr>
          <p:cNvPr id="9" name="context">
            <a:extLst>
              <a:ext uri="{FF2B5EF4-FFF2-40B4-BE49-F238E27FC236}">
                <a16:creationId xmlns:a16="http://schemas.microsoft.com/office/drawing/2014/main" id="{7637729F-34E7-4EFB-A3DC-83ADC0BA1F06}"/>
              </a:ext>
            </a:extLst>
          </p:cNvPr>
          <p:cNvSpPr>
            <a:spLocks noGrp="1"/>
          </p:cNvSpPr>
          <p:nvPr/>
        </p:nvSpPr>
        <p:spPr>
          <a:xfrm>
            <a:off x="11811000" y="666750"/>
            <a:ext cx="28956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100" b="0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rPr>
              <a:t>从实验室出发</a:t>
            </a:r>
          </a:p>
          <a:p>
            <a:pPr algn="ctr">
              <a:defRPr sz="2100" b="0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rPr>
              <a:t>走向日常生活</a:t>
            </a:r>
          </a:p>
        </p:txBody>
      </p:sp>
      <p:sp>
        <p:nvSpPr>
          <p:cNvPr id="10" name="year-dartmouth">
            <a:extLst>
              <a:ext uri="{FF2B5EF4-FFF2-40B4-BE49-F238E27FC236}">
                <a16:creationId xmlns:a16="http://schemas.microsoft.com/office/drawing/2014/main" id="{C2C1060E-E099-486B-BA48-BDB2310746F9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2514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rPr>
              <a:t>1956</a:t>
            </a:r>
          </a:p>
        </p:txBody>
      </p:sp>
      <p:sp>
        <p:nvSpPr>
          <p:cNvPr id="11" name="label-dartmouth">
            <a:extLst>
              <a:ext uri="{FF2B5EF4-FFF2-40B4-BE49-F238E27FC236}">
                <a16:creationId xmlns:a16="http://schemas.microsoft.com/office/drawing/2014/main" id="{B8D9B014-E6AC-4DC9-BAEB-68F7991485F0}"/>
              </a:ext>
            </a:extLst>
          </p:cNvPr>
          <p:cNvSpPr>
            <a:spLocks noGrp="1"/>
          </p:cNvSpPr>
          <p:nvPr/>
        </p:nvSpPr>
        <p:spPr>
          <a:xfrm>
            <a:off x="333375" y="3009900"/>
            <a:ext cx="2647950" cy="438150"/>
          </a:xfrm>
          <a:prstGeom prst="roundRect">
            <a:avLst>
              <a:gd name="adj" fmla="val 17391"/>
            </a:avLst>
          </a:prstGeom>
          <a:solidFill>
            <a:srgbClr val="E7F3FF"/>
          </a:solidFill>
          <a:ln w="0">
            <a:noFill/>
          </a:ln>
        </p:spPr>
      </p:sp>
      <p:sp>
        <p:nvSpPr>
          <p:cNvPr id="12" name="heading-dartmouth">
            <a:extLst>
              <a:ext uri="{FF2B5EF4-FFF2-40B4-BE49-F238E27FC236}">
                <a16:creationId xmlns:a16="http://schemas.microsoft.com/office/drawing/2014/main" id="{920B9C1D-8E8D-4D82-9F25-9EA2A83B12EA}"/>
              </a:ext>
            </a:extLst>
          </p:cNvPr>
          <p:cNvSpPr>
            <a:spLocks noGrp="1"/>
          </p:cNvSpPr>
          <p:nvPr/>
        </p:nvSpPr>
        <p:spPr>
          <a:xfrm>
            <a:off x="352425" y="3019425"/>
            <a:ext cx="26098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rPr>
              <a:t>达特茅斯会议</a:t>
            </a:r>
          </a:p>
        </p:txBody>
      </p:sp>
      <p:sp>
        <p:nvSpPr>
          <p:cNvPr id="13" name="body-dartmouth">
            <a:extLst>
              <a:ext uri="{FF2B5EF4-FFF2-40B4-BE49-F238E27FC236}">
                <a16:creationId xmlns:a16="http://schemas.microsoft.com/office/drawing/2014/main" id="{FB30FB86-B14C-4564-BB9A-D2D76980E049}"/>
              </a:ext>
            </a:extLst>
          </p:cNvPr>
          <p:cNvSpPr>
            <a:spLocks noGrp="1"/>
          </p:cNvSpPr>
          <p:nvPr/>
        </p:nvSpPr>
        <p:spPr>
          <a:xfrm>
            <a:off x="266700" y="3476625"/>
            <a:ext cx="27813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人工智能成为研究领域</a:t>
            </a:r>
          </a:p>
        </p:txBody>
      </p:sp>
      <p:sp>
        <p:nvSpPr>
          <p:cNvPr id="14" name="node-dartmouth">
            <a:extLst>
              <a:ext uri="{FF2B5EF4-FFF2-40B4-BE49-F238E27FC236}">
                <a16:creationId xmlns:a16="http://schemas.microsoft.com/office/drawing/2014/main" id="{B6209C4C-1152-468E-8107-DB2AAC1C5597}"/>
              </a:ext>
            </a:extLst>
          </p:cNvPr>
          <p:cNvSpPr>
            <a:spLocks noGrp="1"/>
          </p:cNvSpPr>
          <p:nvPr/>
        </p:nvSpPr>
        <p:spPr>
          <a:xfrm>
            <a:off x="1209675" y="6086475"/>
            <a:ext cx="209550" cy="209550"/>
          </a:xfrm>
          <a:prstGeom prst="ellipse">
            <a:avLst/>
          </a:prstGeom>
          <a:solidFill>
            <a:srgbClr val="329DFF"/>
          </a:solidFill>
          <a:ln w="38100">
            <a:solidFill>
              <a:srgbClr val="ECFAFF"/>
            </a:solidFill>
          </a:ln>
        </p:spPr>
      </p:sp>
      <p:sp>
        <p:nvSpPr>
          <p:cNvPr id="15" name="year-deepblue">
            <a:extLst>
              <a:ext uri="{FF2B5EF4-FFF2-40B4-BE49-F238E27FC236}">
                <a16:creationId xmlns:a16="http://schemas.microsoft.com/office/drawing/2014/main" id="{A159C3FA-68EF-4D1B-8F34-4E51A9FF1B6A}"/>
              </a:ext>
            </a:extLst>
          </p:cNvPr>
          <p:cNvSpPr>
            <a:spLocks noGrp="1"/>
          </p:cNvSpPr>
          <p:nvPr/>
        </p:nvSpPr>
        <p:spPr>
          <a:xfrm>
            <a:off x="3352800" y="2362200"/>
            <a:ext cx="2514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rPr>
              <a:t>1997</a:t>
            </a:r>
          </a:p>
        </p:txBody>
      </p:sp>
      <p:sp>
        <p:nvSpPr>
          <p:cNvPr id="16" name="label-deepblue">
            <a:extLst>
              <a:ext uri="{FF2B5EF4-FFF2-40B4-BE49-F238E27FC236}">
                <a16:creationId xmlns:a16="http://schemas.microsoft.com/office/drawing/2014/main" id="{0F8BE491-4F3D-471E-9732-3618334D6BDE}"/>
              </a:ext>
            </a:extLst>
          </p:cNvPr>
          <p:cNvSpPr>
            <a:spLocks noGrp="1"/>
          </p:cNvSpPr>
          <p:nvPr/>
        </p:nvSpPr>
        <p:spPr>
          <a:xfrm>
            <a:off x="3286125" y="3009900"/>
            <a:ext cx="2647950" cy="438150"/>
          </a:xfrm>
          <a:prstGeom prst="roundRect">
            <a:avLst>
              <a:gd name="adj" fmla="val 17391"/>
            </a:avLst>
          </a:prstGeom>
          <a:solidFill>
            <a:srgbClr val="E7F3FF"/>
          </a:solidFill>
          <a:ln w="0">
            <a:noFill/>
          </a:ln>
        </p:spPr>
      </p:sp>
      <p:sp>
        <p:nvSpPr>
          <p:cNvPr id="17" name="heading-deepblue">
            <a:extLst>
              <a:ext uri="{FF2B5EF4-FFF2-40B4-BE49-F238E27FC236}">
                <a16:creationId xmlns:a16="http://schemas.microsoft.com/office/drawing/2014/main" id="{089A3BB3-A386-4DB6-A4F4-7E6F7E11D3A1}"/>
              </a:ext>
            </a:extLst>
          </p:cNvPr>
          <p:cNvSpPr>
            <a:spLocks noGrp="1"/>
          </p:cNvSpPr>
          <p:nvPr/>
        </p:nvSpPr>
        <p:spPr>
          <a:xfrm>
            <a:off x="3305175" y="3019425"/>
            <a:ext cx="26098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rPr>
              <a:t>深蓝击败世界冠军</a:t>
            </a:r>
          </a:p>
        </p:txBody>
      </p:sp>
      <p:sp>
        <p:nvSpPr>
          <p:cNvPr id="18" name="body-deepblue">
            <a:extLst>
              <a:ext uri="{FF2B5EF4-FFF2-40B4-BE49-F238E27FC236}">
                <a16:creationId xmlns:a16="http://schemas.microsoft.com/office/drawing/2014/main" id="{03974B2A-C4AA-4144-BFDB-60D0FF6586FB}"/>
              </a:ext>
            </a:extLst>
          </p:cNvPr>
          <p:cNvSpPr>
            <a:spLocks noGrp="1"/>
          </p:cNvSpPr>
          <p:nvPr/>
        </p:nvSpPr>
        <p:spPr>
          <a:xfrm>
            <a:off x="3219450" y="3476625"/>
            <a:ext cx="27813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战胜国际象棋冠军</a:t>
            </a:r>
          </a:p>
          <a:p>
            <a:pPr algn="ctr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卡斯帕罗夫</a:t>
            </a:r>
          </a:p>
        </p:txBody>
      </p:sp>
      <p:sp>
        <p:nvSpPr>
          <p:cNvPr id="19" name="node-deepblue">
            <a:extLst>
              <a:ext uri="{FF2B5EF4-FFF2-40B4-BE49-F238E27FC236}">
                <a16:creationId xmlns:a16="http://schemas.microsoft.com/office/drawing/2014/main" id="{A5ABABA6-7962-4A45-86A9-AEA8C8FF0F48}"/>
              </a:ext>
            </a:extLst>
          </p:cNvPr>
          <p:cNvSpPr>
            <a:spLocks noGrp="1"/>
          </p:cNvSpPr>
          <p:nvPr/>
        </p:nvSpPr>
        <p:spPr>
          <a:xfrm>
            <a:off x="4371975" y="6353175"/>
            <a:ext cx="209550" cy="209550"/>
          </a:xfrm>
          <a:prstGeom prst="ellipse">
            <a:avLst/>
          </a:prstGeom>
          <a:solidFill>
            <a:srgbClr val="329DFF"/>
          </a:solidFill>
          <a:ln w="38100">
            <a:solidFill>
              <a:srgbClr val="ECFAFF"/>
            </a:solidFill>
          </a:ln>
        </p:spPr>
      </p:sp>
      <p:sp>
        <p:nvSpPr>
          <p:cNvPr id="20" name="year-alexnet">
            <a:extLst>
              <a:ext uri="{FF2B5EF4-FFF2-40B4-BE49-F238E27FC236}">
                <a16:creationId xmlns:a16="http://schemas.microsoft.com/office/drawing/2014/main" id="{BD53EA56-4922-4B64-A4F7-A87A81CAAE15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2514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rPr>
              <a:t>2012</a:t>
            </a:r>
          </a:p>
        </p:txBody>
      </p:sp>
      <p:sp>
        <p:nvSpPr>
          <p:cNvPr id="21" name="label-alexnet">
            <a:extLst>
              <a:ext uri="{FF2B5EF4-FFF2-40B4-BE49-F238E27FC236}">
                <a16:creationId xmlns:a16="http://schemas.microsoft.com/office/drawing/2014/main" id="{2CD67197-BA01-4F10-8CC3-C95D3848AA68}"/>
              </a:ext>
            </a:extLst>
          </p:cNvPr>
          <p:cNvSpPr>
            <a:spLocks noGrp="1"/>
          </p:cNvSpPr>
          <p:nvPr/>
        </p:nvSpPr>
        <p:spPr>
          <a:xfrm>
            <a:off x="6086475" y="3009900"/>
            <a:ext cx="2647950" cy="438150"/>
          </a:xfrm>
          <a:prstGeom prst="roundRect">
            <a:avLst>
              <a:gd name="adj" fmla="val 17391"/>
            </a:avLst>
          </a:prstGeom>
          <a:solidFill>
            <a:srgbClr val="E7F3FF"/>
          </a:solidFill>
          <a:ln w="0">
            <a:noFill/>
          </a:ln>
        </p:spPr>
      </p:sp>
      <p:sp>
        <p:nvSpPr>
          <p:cNvPr id="22" name="heading-alexnet">
            <a:extLst>
              <a:ext uri="{FF2B5EF4-FFF2-40B4-BE49-F238E27FC236}">
                <a16:creationId xmlns:a16="http://schemas.microsoft.com/office/drawing/2014/main" id="{C75F338D-C637-4452-A0DE-2EB8AD1C44CE}"/>
              </a:ext>
            </a:extLst>
          </p:cNvPr>
          <p:cNvSpPr>
            <a:spLocks noGrp="1"/>
          </p:cNvSpPr>
          <p:nvPr/>
        </p:nvSpPr>
        <p:spPr>
          <a:xfrm>
            <a:off x="6105525" y="3019425"/>
            <a:ext cx="26098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rPr>
              <a:t>AlexNet 突破</a:t>
            </a:r>
          </a:p>
        </p:txBody>
      </p:sp>
      <p:sp>
        <p:nvSpPr>
          <p:cNvPr id="23" name="body-alexnet">
            <a:extLst>
              <a:ext uri="{FF2B5EF4-FFF2-40B4-BE49-F238E27FC236}">
                <a16:creationId xmlns:a16="http://schemas.microsoft.com/office/drawing/2014/main" id="{F047FF32-73B8-4AED-B9DD-85C8115DDF60}"/>
              </a:ext>
            </a:extLst>
          </p:cNvPr>
          <p:cNvSpPr>
            <a:spLocks noGrp="1"/>
          </p:cNvSpPr>
          <p:nvPr/>
        </p:nvSpPr>
        <p:spPr>
          <a:xfrm>
            <a:off x="6019800" y="3476625"/>
            <a:ext cx="27813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深度学习推动</a:t>
            </a:r>
          </a:p>
          <a:p>
            <a:pPr algn="ctr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图像识别跃升</a:t>
            </a:r>
          </a:p>
        </p:txBody>
      </p:sp>
      <p:sp>
        <p:nvSpPr>
          <p:cNvPr id="24" name="node-alexnet">
            <a:extLst>
              <a:ext uri="{FF2B5EF4-FFF2-40B4-BE49-F238E27FC236}">
                <a16:creationId xmlns:a16="http://schemas.microsoft.com/office/drawing/2014/main" id="{D5E55FF4-9B2A-4EE9-8009-039B1FD250C4}"/>
              </a:ext>
            </a:extLst>
          </p:cNvPr>
          <p:cNvSpPr>
            <a:spLocks noGrp="1"/>
          </p:cNvSpPr>
          <p:nvPr/>
        </p:nvSpPr>
        <p:spPr>
          <a:xfrm>
            <a:off x="7277100" y="6505575"/>
            <a:ext cx="209550" cy="209550"/>
          </a:xfrm>
          <a:prstGeom prst="ellipse">
            <a:avLst/>
          </a:prstGeom>
          <a:solidFill>
            <a:srgbClr val="329DFF"/>
          </a:solidFill>
          <a:ln w="38100">
            <a:solidFill>
              <a:srgbClr val="ECFAFF"/>
            </a:solidFill>
          </a:ln>
        </p:spPr>
      </p:sp>
      <p:sp>
        <p:nvSpPr>
          <p:cNvPr id="25" name="year-alphago">
            <a:extLst>
              <a:ext uri="{FF2B5EF4-FFF2-40B4-BE49-F238E27FC236}">
                <a16:creationId xmlns:a16="http://schemas.microsoft.com/office/drawing/2014/main" id="{F77D4087-D4A3-407D-A685-16F3CC625E4A}"/>
              </a:ext>
            </a:extLst>
          </p:cNvPr>
          <p:cNvSpPr>
            <a:spLocks noGrp="1"/>
          </p:cNvSpPr>
          <p:nvPr/>
        </p:nvSpPr>
        <p:spPr>
          <a:xfrm>
            <a:off x="8934450" y="2362200"/>
            <a:ext cx="2514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DAF2FF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26" name="label-alphago">
            <a:extLst>
              <a:ext uri="{FF2B5EF4-FFF2-40B4-BE49-F238E27FC236}">
                <a16:creationId xmlns:a16="http://schemas.microsoft.com/office/drawing/2014/main" id="{3E939B3A-B85F-4C18-AA37-05E46CA42C12}"/>
              </a:ext>
            </a:extLst>
          </p:cNvPr>
          <p:cNvSpPr>
            <a:spLocks noGrp="1"/>
          </p:cNvSpPr>
          <p:nvPr/>
        </p:nvSpPr>
        <p:spPr>
          <a:xfrm>
            <a:off x="8867775" y="3009900"/>
            <a:ext cx="2647950" cy="438150"/>
          </a:xfrm>
          <a:prstGeom prst="roundRect">
            <a:avLst>
              <a:gd name="adj" fmla="val 17391"/>
            </a:avLst>
          </a:prstGeom>
          <a:solidFill>
            <a:srgbClr val="E7F3FF"/>
          </a:solidFill>
          <a:ln w="0">
            <a:noFill/>
          </a:ln>
        </p:spPr>
      </p:sp>
      <p:sp>
        <p:nvSpPr>
          <p:cNvPr id="27" name="heading-alphago">
            <a:extLst>
              <a:ext uri="{FF2B5EF4-FFF2-40B4-BE49-F238E27FC236}">
                <a16:creationId xmlns:a16="http://schemas.microsoft.com/office/drawing/2014/main" id="{91437F1C-A3C4-4066-9720-C03DF7CF30F1}"/>
              </a:ext>
            </a:extLst>
          </p:cNvPr>
          <p:cNvSpPr>
            <a:spLocks noGrp="1"/>
          </p:cNvSpPr>
          <p:nvPr/>
        </p:nvSpPr>
        <p:spPr>
          <a:xfrm>
            <a:off x="8886825" y="3019425"/>
            <a:ext cx="26098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rPr>
              <a:t>AlphaGo 获胜</a:t>
            </a:r>
          </a:p>
        </p:txBody>
      </p:sp>
      <p:sp>
        <p:nvSpPr>
          <p:cNvPr id="28" name="body-alphago">
            <a:extLst>
              <a:ext uri="{FF2B5EF4-FFF2-40B4-BE49-F238E27FC236}">
                <a16:creationId xmlns:a16="http://schemas.microsoft.com/office/drawing/2014/main" id="{223F4208-A34E-48B9-A85D-7E30186A3C50}"/>
              </a:ext>
            </a:extLst>
          </p:cNvPr>
          <p:cNvSpPr>
            <a:spLocks noGrp="1"/>
          </p:cNvSpPr>
          <p:nvPr/>
        </p:nvSpPr>
        <p:spPr>
          <a:xfrm>
            <a:off x="8801100" y="3476625"/>
            <a:ext cx="27813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 4∶1 战胜李世石</a:t>
            </a:r>
          </a:p>
        </p:txBody>
      </p:sp>
      <p:sp>
        <p:nvSpPr>
          <p:cNvPr id="29" name="node-alphago">
            <a:extLst>
              <a:ext uri="{FF2B5EF4-FFF2-40B4-BE49-F238E27FC236}">
                <a16:creationId xmlns:a16="http://schemas.microsoft.com/office/drawing/2014/main" id="{4B9CF396-0243-4C77-A8E6-01775F415EE2}"/>
              </a:ext>
            </a:extLst>
          </p:cNvPr>
          <p:cNvSpPr>
            <a:spLocks noGrp="1"/>
          </p:cNvSpPr>
          <p:nvPr/>
        </p:nvSpPr>
        <p:spPr>
          <a:xfrm>
            <a:off x="9896475" y="6619875"/>
            <a:ext cx="209550" cy="209550"/>
          </a:xfrm>
          <a:prstGeom prst="ellipse">
            <a:avLst/>
          </a:prstGeom>
          <a:solidFill>
            <a:srgbClr val="329DFF"/>
          </a:solidFill>
          <a:ln w="38100">
            <a:solidFill>
              <a:srgbClr val="ECFAFF"/>
            </a:solidFill>
          </a:ln>
        </p:spPr>
      </p:sp>
      <p:sp>
        <p:nvSpPr>
          <p:cNvPr id="30" name="year-chatgpt">
            <a:extLst>
              <a:ext uri="{FF2B5EF4-FFF2-40B4-BE49-F238E27FC236}">
                <a16:creationId xmlns:a16="http://schemas.microsoft.com/office/drawing/2014/main" id="{AB35A0BC-8FEA-4B13-9DDA-CEB7A298F37A}"/>
              </a:ext>
            </a:extLst>
          </p:cNvPr>
          <p:cNvSpPr>
            <a:spLocks noGrp="1"/>
          </p:cNvSpPr>
          <p:nvPr/>
        </p:nvSpPr>
        <p:spPr>
          <a:xfrm>
            <a:off x="11649075" y="2362200"/>
            <a:ext cx="2514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4125" b="1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31" name="label-chatgpt">
            <a:extLst>
              <a:ext uri="{FF2B5EF4-FFF2-40B4-BE49-F238E27FC236}">
                <a16:creationId xmlns:a16="http://schemas.microsoft.com/office/drawing/2014/main" id="{45404351-8A2D-44B6-8798-29134B67D63F}"/>
              </a:ext>
            </a:extLst>
          </p:cNvPr>
          <p:cNvSpPr>
            <a:spLocks noGrp="1"/>
          </p:cNvSpPr>
          <p:nvPr/>
        </p:nvSpPr>
        <p:spPr>
          <a:xfrm>
            <a:off x="11582400" y="3009900"/>
            <a:ext cx="2647950" cy="438150"/>
          </a:xfrm>
          <a:prstGeom prst="roundRect">
            <a:avLst>
              <a:gd name="adj" fmla="val 17391"/>
            </a:avLst>
          </a:prstGeom>
          <a:solidFill>
            <a:srgbClr val="E7F3FF"/>
          </a:solidFill>
          <a:ln w="0">
            <a:noFill/>
          </a:ln>
        </p:spPr>
      </p:sp>
      <p:sp>
        <p:nvSpPr>
          <p:cNvPr id="32" name="heading-chatgpt">
            <a:extLst>
              <a:ext uri="{FF2B5EF4-FFF2-40B4-BE49-F238E27FC236}">
                <a16:creationId xmlns:a16="http://schemas.microsoft.com/office/drawing/2014/main" id="{70F96F22-A2E5-4294-8AC5-704CE8BA2338}"/>
              </a:ext>
            </a:extLst>
          </p:cNvPr>
          <p:cNvSpPr>
            <a:spLocks noGrp="1"/>
          </p:cNvSpPr>
          <p:nvPr/>
        </p:nvSpPr>
        <p:spPr>
          <a:xfrm>
            <a:off x="11601450" y="3019425"/>
            <a:ext cx="26098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1C3B"/>
                </a:solidFill>
                <a:latin typeface="Microsoft YaHei"/>
                <a:ea typeface="Microsoft YaHei"/>
                <a:cs typeface="Microsoft YaHei"/>
              </a:rPr>
              <a:t>ChatGPT 发布</a:t>
            </a:r>
          </a:p>
        </p:txBody>
      </p:sp>
      <p:sp>
        <p:nvSpPr>
          <p:cNvPr id="33" name="body-chatgpt">
            <a:extLst>
              <a:ext uri="{FF2B5EF4-FFF2-40B4-BE49-F238E27FC236}">
                <a16:creationId xmlns:a16="http://schemas.microsoft.com/office/drawing/2014/main" id="{2DE0BCA4-BBE1-4C2B-A96F-17CE27B74258}"/>
              </a:ext>
            </a:extLst>
          </p:cNvPr>
          <p:cNvSpPr>
            <a:spLocks noGrp="1"/>
          </p:cNvSpPr>
          <p:nvPr/>
        </p:nvSpPr>
        <p:spPr>
          <a:xfrm>
            <a:off x="11515725" y="3476625"/>
            <a:ext cx="27813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355"/>
                </a:solidFill>
                <a:latin typeface="Microsoft YaHei"/>
                <a:ea typeface="Microsoft YaHei"/>
                <a:cs typeface="Microsoft YaHei"/>
              </a:rPr>
              <a:t>对话式生成 AI 走向公众</a:t>
            </a:r>
          </a:p>
        </p:txBody>
      </p:sp>
      <p:sp>
        <p:nvSpPr>
          <p:cNvPr id="34" name="node-chatgpt">
            <a:extLst>
              <a:ext uri="{FF2B5EF4-FFF2-40B4-BE49-F238E27FC236}">
                <a16:creationId xmlns:a16="http://schemas.microsoft.com/office/drawing/2014/main" id="{8869EC44-944A-4F63-AE6B-2319125FCD6C}"/>
              </a:ext>
            </a:extLst>
          </p:cNvPr>
          <p:cNvSpPr>
            <a:spLocks noGrp="1"/>
          </p:cNvSpPr>
          <p:nvPr/>
        </p:nvSpPr>
        <p:spPr>
          <a:xfrm>
            <a:off x="12601575" y="6705600"/>
            <a:ext cx="209550" cy="209550"/>
          </a:xfrm>
          <a:prstGeom prst="ellipse">
            <a:avLst/>
          </a:prstGeom>
          <a:solidFill>
            <a:srgbClr val="329DFF"/>
          </a:solidFill>
          <a:ln w="38100">
            <a:solidFill>
              <a:srgbClr val="ECFAFF"/>
            </a:solidFill>
          </a:ln>
        </p:spPr>
      </p:sp>
      <p:cxnSp>
        <p:nvCxnSpPr>
          <p:cNvPr id="77" name="直接箭头连接符 76"/>
          <p:cNvCxnSpPr>
            <a:stCxn id="14" idx="6"/>
            <a:endCxn id="19" idx="2"/>
          </p:cNvCxnSpPr>
          <p:nvPr/>
        </p:nvCxnSpPr>
        <p:spPr>
          <a:xfrm>
            <a:off x="1419225" y="6191250"/>
            <a:ext cx="2952750" cy="266700"/>
          </a:xfrm>
          <a:prstGeom prst="straightConnector1">
            <a:avLst/>
          </a:prstGeom>
          <a:ln w="38100">
            <a:solidFill>
              <a:srgbClr val="D8F6FF"/>
            </a:solidFill>
            <a:tailEnd type="triangle" w="med" len="med"/>
          </a:ln>
        </p:spPr>
      </p:cxnSp>
      <p:cxnSp>
        <p:nvCxnSpPr>
          <p:cNvPr id="78" name="直接箭头连接符 77"/>
          <p:cNvCxnSpPr>
            <a:stCxn id="19" idx="6"/>
            <a:endCxn id="24" idx="2"/>
          </p:cNvCxnSpPr>
          <p:nvPr/>
        </p:nvCxnSpPr>
        <p:spPr>
          <a:xfrm>
            <a:off x="4581525" y="6457950"/>
            <a:ext cx="2695575" cy="152400"/>
          </a:xfrm>
          <a:prstGeom prst="straightConnector1">
            <a:avLst/>
          </a:prstGeom>
          <a:ln w="38100">
            <a:solidFill>
              <a:srgbClr val="D8F6FF"/>
            </a:solidFill>
            <a:tailEnd type="triangle" w="med" len="med"/>
          </a:ln>
        </p:spPr>
      </p:cxnSp>
      <p:cxnSp>
        <p:nvCxnSpPr>
          <p:cNvPr id="79" name="直接箭头连接符 78"/>
          <p:cNvCxnSpPr>
            <a:stCxn id="24" idx="6"/>
            <a:endCxn id="29" idx="2"/>
          </p:cNvCxnSpPr>
          <p:nvPr/>
        </p:nvCxnSpPr>
        <p:spPr>
          <a:xfrm>
            <a:off x="7486650" y="6610350"/>
            <a:ext cx="2409825" cy="114300"/>
          </a:xfrm>
          <a:prstGeom prst="straightConnector1">
            <a:avLst/>
          </a:prstGeom>
          <a:ln w="38100">
            <a:solidFill>
              <a:srgbClr val="D8F6FF"/>
            </a:solidFill>
            <a:tailEnd type="triangle" w="med" len="med"/>
          </a:ln>
        </p:spPr>
      </p:cxnSp>
      <p:cxnSp>
        <p:nvCxnSpPr>
          <p:cNvPr id="80" name="直接箭头连接符 79"/>
          <p:cNvCxnSpPr>
            <a:stCxn id="29" idx="6"/>
            <a:endCxn id="34" idx="2"/>
          </p:cNvCxnSpPr>
          <p:nvPr/>
        </p:nvCxnSpPr>
        <p:spPr>
          <a:xfrm>
            <a:off x="10106025" y="6724650"/>
            <a:ext cx="2495550" cy="85725"/>
          </a:xfrm>
          <a:prstGeom prst="straightConnector1">
            <a:avLst/>
          </a:prstGeom>
          <a:ln w="38100">
            <a:solidFill>
              <a:srgbClr val="D8F6FF"/>
            </a:solidFill>
            <a:tailEnd type="triangle" w="med" len="med"/>
          </a:ln>
        </p:spPr>
      </p:cxnSp>
      <p:sp>
        <p:nvSpPr>
          <p:cNvPr id="39" name="era-question">
            <a:extLst>
              <a:ext uri="{FF2B5EF4-FFF2-40B4-BE49-F238E27FC236}">
                <a16:creationId xmlns:a16="http://schemas.microsoft.com/office/drawing/2014/main" id="{C53B9900-FD38-4D7E-8988-899B73BC3C6D}"/>
              </a:ext>
            </a:extLst>
          </p:cNvPr>
          <p:cNvSpPr>
            <a:spLocks noGrp="1"/>
          </p:cNvSpPr>
          <p:nvPr/>
        </p:nvSpPr>
        <p:spPr>
          <a:xfrm>
            <a:off x="381000" y="693420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550" b="1">
                <a:solidFill>
                  <a:srgbClr val="E3E8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E8EF"/>
                </a:solidFill>
                <a:latin typeface="Microsoft YaHei"/>
                <a:ea typeface="Microsoft YaHei"/>
                <a:cs typeface="Microsoft YaHei"/>
              </a:rPr>
              <a:t>提出问题</a:t>
            </a:r>
          </a:p>
        </p:txBody>
      </p:sp>
      <p:sp>
        <p:nvSpPr>
          <p:cNvPr id="40" name="era-breakthrough">
            <a:extLst>
              <a:ext uri="{FF2B5EF4-FFF2-40B4-BE49-F238E27FC236}">
                <a16:creationId xmlns:a16="http://schemas.microsoft.com/office/drawing/2014/main" id="{45671CCF-AC08-4492-822D-9AB74588AF7C}"/>
              </a:ext>
            </a:extLst>
          </p:cNvPr>
          <p:cNvSpPr>
            <a:spLocks noGrp="1"/>
          </p:cNvSpPr>
          <p:nvPr/>
        </p:nvSpPr>
        <p:spPr>
          <a:xfrm>
            <a:off x="4953000" y="7219950"/>
            <a:ext cx="4191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550" b="1">
                <a:solidFill>
                  <a:srgbClr val="A8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8E5FF"/>
                </a:solidFill>
                <a:latin typeface="Microsoft YaHei"/>
                <a:ea typeface="Microsoft YaHei"/>
                <a:cs typeface="Microsoft YaHei"/>
              </a:rPr>
              <a:t>突破能力边界</a:t>
            </a:r>
          </a:p>
        </p:txBody>
      </p:sp>
      <p:sp>
        <p:nvSpPr>
          <p:cNvPr id="41" name="era-daily">
            <a:extLst>
              <a:ext uri="{FF2B5EF4-FFF2-40B4-BE49-F238E27FC236}">
                <a16:creationId xmlns:a16="http://schemas.microsoft.com/office/drawing/2014/main" id="{08620759-B589-45C6-A701-356AC8672FA1}"/>
              </a:ext>
            </a:extLst>
          </p:cNvPr>
          <p:cNvSpPr>
            <a:spLocks noGrp="1"/>
          </p:cNvSpPr>
          <p:nvPr/>
        </p:nvSpPr>
        <p:spPr>
          <a:xfrm>
            <a:off x="10239375" y="741045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走进日常生活</a:t>
            </a:r>
          </a:p>
        </p:txBody>
      </p:sp>
      <p:sp>
        <p:nvSpPr>
          <p:cNvPr id="42" name="footer">
            <a:extLst>
              <a:ext uri="{FF2B5EF4-FFF2-40B4-BE49-F238E27FC236}">
                <a16:creationId xmlns:a16="http://schemas.microsoft.com/office/drawing/2014/main" id="{85B07DF0-2D41-40B2-9E95-DC7512EE5A6C}"/>
              </a:ext>
            </a:extLst>
          </p:cNvPr>
          <p:cNvSpPr>
            <a:spLocks noGrp="1"/>
          </p:cNvSpPr>
          <p:nvPr/>
        </p:nvSpPr>
        <p:spPr>
          <a:xfrm>
            <a:off x="762000" y="8191500"/>
            <a:ext cx="1371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0">
                <a:solidFill>
                  <a:srgbClr val="E7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7EEF6"/>
                </a:solidFill>
                <a:latin typeface="Microsoft YaHei"/>
                <a:ea typeface="Microsoft YaHei"/>
                <a:cs typeface="Microsoft YaHei"/>
              </a:rPr>
              <a:t>精选里程碑，非完整年表 · 场景为 AI 示意图，非历史照片</a:t>
            </a:r>
          </a:p>
        </p:txBody>
      </p:sp>
    </p:spTree>
    <p:extLst>
      <p:ext uri="{BB962C8B-B14F-4D97-AF65-F5344CB8AC3E}">
        <p14:creationId xmlns:p14="http://schemas.microsoft.com/office/powerpoint/2010/main" val="13234096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DocSecurity>0</DocSecurity>
  <PresentationFormat>自定义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zgg</cp:lastModifiedBy>
  <cp:revision>1</cp:revision>
  <dcterms:created xsi:type="dcterms:W3CDTF">2026-09-17T16:57:15Z</dcterms:created>
  <dcterms:modified xsi:type="dcterms:W3CDTF">2026-09-17T16:58:10Z</dcterms:modified>
</cp:coreProperties>
</file>